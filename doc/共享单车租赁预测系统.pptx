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440"/>
            </a:gs>
            <a:gs pos="100000">
              <a:srgbClr val="1971C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共享单车租赁预测系统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FACFE"/>
                </a:solidFill>
              </a:defRPr>
            </a:pPr>
            <a:r>
              <a:t>基于机器学习的智能需求预测分析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FACFE"/>
                </a:solidFill>
              </a:defRPr>
            </a:pPr>
            <a:r>
              <a:t>2024 · 机器学习项目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项目简介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440"/>
                </a:solidFill>
              </a:defRPr>
            </a:pPr>
            <a:r>
              <a:t>• 使用机器学习方法预测共享单车租赁数量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440"/>
                </a:solidFill>
              </a:defRPr>
            </a:pPr>
            <a:r>
              <a:t>• 基于历史数据中的环境因素和季节信息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688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440"/>
                </a:solidFill>
              </a:defRPr>
            </a:pPr>
            <a:r>
              <a:t>• 帮助优化车辆调度，预测需求高峰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440"/>
                </a:solidFill>
              </a:defRPr>
            </a:pPr>
            <a:r>
              <a:t>• 提高运营效率和用户体验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数据概览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548640"/>
          </a:xfrm>
          <a:prstGeom prst="round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数据来源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377440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Capital Bikeshare系统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34640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华盛顿特区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40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2011-2012年数据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49039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17,379条小时数据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645920"/>
            <a:ext cx="384048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737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数据特征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0" y="23774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31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12个特征维度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28346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7889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时间、天气、温度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32918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2461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工作日、节假日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0" y="3749039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完整的业务数据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模型性能指标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96FF"/>
                </a:solidFill>
              </a:defRPr>
            </a:pPr>
            <a:r>
              <a:t>0.9207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440"/>
                </a:solidFill>
              </a:defRPr>
            </a:pPr>
            <a:r>
              <a:t>R² 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解释92%变异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971C2"/>
                </a:solidFill>
              </a:defRPr>
            </a:pPr>
            <a:r>
              <a:t>50.11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440"/>
                </a:solidFill>
              </a:defRPr>
            </a:pPr>
            <a: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08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均方根误差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21031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ACFE"/>
                </a:solidFill>
              </a:defRPr>
            </a:pPr>
            <a:r>
              <a:t>31.10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743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440"/>
                </a:solidFill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108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平均绝对误差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201168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59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440"/>
                </a:solidFill>
              </a:defRPr>
            </a:pPr>
            <a:r>
              <a:t>过拟合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08080"/>
                </a:solidFill>
              </a:defRPr>
            </a:pPr>
            <a:r>
              <a:t>训练-测试差异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特征重要性分析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440"/>
                </a:solidFill>
              </a:defRPr>
            </a:pPr>
            <a:r>
              <a:t>hr (小时)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74519"/>
            <a:ext cx="6400800" cy="2743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874519"/>
            <a:ext cx="4134916" cy="2743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828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FF"/>
                </a:solidFill>
              </a:defRPr>
            </a:pPr>
            <a:r>
              <a:t>64.6%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最重要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440"/>
                </a:solidFill>
              </a:defRPr>
            </a:pPr>
            <a:r>
              <a:t>temp (温度)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71800"/>
            <a:ext cx="6400800" cy="2743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971800"/>
            <a:ext cx="768096" cy="274320"/>
          </a:xfrm>
          <a:prstGeom prst="round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2926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71C2"/>
                </a:solidFill>
              </a:defRPr>
            </a:pPr>
            <a:r>
              <a:t>12.0%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第二重要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440"/>
                </a:solidFill>
              </a:defRPr>
            </a:pPr>
            <a:r>
              <a:t>yr (年份)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069080"/>
            <a:ext cx="6400800" cy="2743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4069080"/>
            <a:ext cx="556869" cy="274320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4023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FACFE"/>
                </a:solidFill>
              </a:defRPr>
            </a:pPr>
            <a:r>
              <a:t>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3891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业务增长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440"/>
                </a:solidFill>
              </a:defRPr>
            </a:pPr>
            <a:r>
              <a:t>workingday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5166359"/>
            <a:ext cx="6400800" cy="27432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0" y="5166359"/>
            <a:ext cx="390448" cy="27432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5120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04040"/>
                </a:solidFill>
              </a:defRPr>
            </a:pPr>
            <a:r>
              <a:t>6.1%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4864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工作日影响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440"/>
                </a:solidFill>
              </a:defRPr>
            </a:pPr>
            <a:r>
              <a:t>1. 小时因素是影响需求的最重要因素（64.6%）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 • 时段因素远超温度、天气等因素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688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 • 早高峰、晚高峰是需求高峰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04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440"/>
                </a:solidFill>
              </a:defRPr>
            </a:pPr>
            <a:r>
              <a:t>2. 模型预测精度高（R² = 0.92）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 • 能够准确预测中高需求水平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2976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 • 为运营提供可靠支持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0292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440"/>
                </a:solidFill>
              </a:defRPr>
            </a:pPr>
            <a:r>
              <a:t>3. 运营策略建议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5778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 • 按时段动态调度车辆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6126479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0807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 • 早高峰、晚高峰增加投放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6675119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62939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 • 深夜时段减少投放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模型对比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840480" cy="548640"/>
          </a:xfrm>
          <a:prstGeom prst="round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线性回归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377440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R²: 0.3880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34640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RMSE: 139.21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91840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MAE: 104.80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49039"/>
            <a:ext cx="109728" cy="109728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简单但性能较低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645920"/>
            <a:ext cx="384048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737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随机森林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0" y="23774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331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R²: 0.9207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28346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7889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RMSE: 50.11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3291840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2461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MAE: 31.10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0" y="3749039"/>
            <a:ext cx="109728" cy="10972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性能优秀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7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数据层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数据加载与清洗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688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特征工程与标准化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0040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模型层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随机森林回归（1000棵树）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2976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最大深度：10层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并行计算优化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5778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评估层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6126479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0807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多种评估指标（R², RMSE, MAE）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6675119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62939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残差分析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7223759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7178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特征重要性分析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2440"/>
            </a:gs>
            <a:gs pos="100000">
              <a:srgbClr val="1971C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结论与展望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286000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40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✓ 成功建立高精度预测模型（R² = 0.92）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834640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788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✓ 小时因素是核心驱动因素（64.6%）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383280"/>
            <a:ext cx="182880" cy="1828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3375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✓ 为运营决策提供数据支持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20624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160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未来优化方向：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754879"/>
            <a:ext cx="137160" cy="13716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70915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超参数调优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5303519"/>
            <a:ext cx="137160" cy="13716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525779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实时预测系统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5852159"/>
            <a:ext cx="137160" cy="13716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80643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多城市扩展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